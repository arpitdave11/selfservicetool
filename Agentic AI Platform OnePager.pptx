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A5B4FC"/>
                </a:solidFill>
                <a:latin typeface="Calibri"/>
              </a:rPr>
              <a:t>🤖  Agentic AI Platform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Intelligent Data Classification &amp; Autonomous Epic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74320"/>
            <a:ext cx="2926080" cy="365760"/>
          </a:xfrm>
          <a:prstGeom prst="roundRect">
            <a:avLst>
              <a:gd name="adj" fmla="val 3000"/>
            </a:avLst>
          </a:prstGeom>
          <a:solidFill>
            <a:srgbClr val="1515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0" y="274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5B4FC"/>
                </a:solidFill>
                <a:latin typeface="Calibri"/>
              </a:rPr>
              <a:t>Multi-Agent  ·  LangGraph  ·  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11277295" cy="12700"/>
          </a:xfrm>
          <a:prstGeom prst="rect">
            <a:avLst/>
          </a:prstGeom>
          <a:solidFill>
            <a:srgbClr val="25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77295" cy="1554480"/>
          </a:xfrm>
          <a:prstGeom prst="roundRect">
            <a:avLst>
              <a:gd name="adj" fmla="val 3000"/>
            </a:avLst>
          </a:prstGeom>
          <a:solidFill>
            <a:srgbClr val="15182E"/>
          </a:solidFill>
          <a:ln w="12700">
            <a:solidFill>
              <a:srgbClr val="252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11277295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A5B4FC"/>
                </a:solidFill>
                <a:latin typeface="Calibri"/>
              </a:rPr>
              <a:t>⚡  AI-DRIVEN DATA CLASSIFICATION PIPELINE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B0B0BE"/>
                </a:solidFill>
                <a:latin typeface="Calibri"/>
              </a:rPr>
              <a:t>An end-to-end agentic pipeline that autonomously ingests raw attribute data, generates </a:t>
            </a:r>
            <a:r>
              <a:rPr sz="900" b="1">
                <a:solidFill>
                  <a:srgbClr val="C7D2FE"/>
                </a:solidFill>
                <a:latin typeface="Calibri"/>
              </a:rPr>
              <a:t>knowledge-augmented descriptions</a:t>
            </a:r>
            <a:r>
              <a:rPr sz="900" b="0">
                <a:solidFill>
                  <a:srgbClr val="B0B0BE"/>
                </a:solidFill>
                <a:latin typeface="Calibri"/>
              </a:rPr>
              <a:t>, routes through SME approval, performs </a:t>
            </a:r>
            <a:r>
              <a:rPr sz="900" b="1">
                <a:solidFill>
                  <a:srgbClr val="C7D2FE"/>
                </a:solidFill>
                <a:latin typeface="Calibri"/>
              </a:rPr>
              <a:t>CID classification (Red / Amber / Green)</a:t>
            </a:r>
            <a:r>
              <a:rPr sz="900" b="0">
                <a:solidFill>
                  <a:srgbClr val="B0B0BE"/>
                </a:solidFill>
                <a:latin typeface="Calibri"/>
              </a:rPr>
              <a:t>, and maps KD elements within the </a:t>
            </a:r>
            <a:r>
              <a:rPr sz="900" b="1">
                <a:solidFill>
                  <a:srgbClr val="C7D2FE"/>
                </a:solidFill>
                <a:latin typeface="Calibri"/>
              </a:rPr>
              <a:t>Meta Cube</a:t>
            </a:r>
            <a:r>
              <a:rPr sz="900" b="0">
                <a:solidFill>
                  <a:srgbClr val="B0B0BE"/>
                </a:solidFill>
                <a:latin typeface="Calibri"/>
              </a:rPr>
              <a:t> — enabling role-based access control via CLID.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65960"/>
            <a:ext cx="1234440" cy="256032"/>
          </a:xfrm>
          <a:prstGeom prst="roundRect">
            <a:avLst>
              <a:gd name="adj" fmla="val 3000"/>
            </a:avLst>
          </a:prstGeom>
          <a:solidFill>
            <a:srgbClr val="1E1E3A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7D2FE"/>
                </a:solidFill>
                <a:latin typeface="Calibri"/>
              </a:rPr>
              <a:t>📥 Data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65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0508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1965960"/>
            <a:ext cx="1234440" cy="256032"/>
          </a:xfrm>
          <a:prstGeom prst="roundRect">
            <a:avLst>
              <a:gd name="adj" fmla="val 3000"/>
            </a:avLst>
          </a:prstGeom>
          <a:solidFill>
            <a:srgbClr val="181830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196596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7D2FE"/>
                </a:solidFill>
                <a:latin typeface="Calibri"/>
              </a:rPr>
              <a:t>🧠 AI Description 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965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0508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1965960"/>
            <a:ext cx="1234440" cy="256032"/>
          </a:xfrm>
          <a:prstGeom prst="roundRect">
            <a:avLst>
              <a:gd name="adj" fmla="val 3000"/>
            </a:avLst>
          </a:prstGeom>
          <a:solidFill>
            <a:srgbClr val="181830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196596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7D2FE"/>
                </a:solidFill>
                <a:latin typeface="Calibri"/>
              </a:rPr>
              <a:t>📚 KB Augmentation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05080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1965960"/>
            <a:ext cx="1234440" cy="256032"/>
          </a:xfrm>
          <a:prstGeom prst="roundRect">
            <a:avLst>
              <a:gd name="adj" fmla="val 3000"/>
            </a:avLst>
          </a:prstGeom>
          <a:solidFill>
            <a:srgbClr val="181830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196596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7D2FE"/>
                </a:solidFill>
                <a:latin typeface="Calibri"/>
              </a:rPr>
              <a:t>✅ SME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965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05080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1965960"/>
            <a:ext cx="1234440" cy="256032"/>
          </a:xfrm>
          <a:prstGeom prst="roundRect">
            <a:avLst>
              <a:gd name="adj" fmla="val 3000"/>
            </a:avLst>
          </a:prstGeom>
          <a:solidFill>
            <a:srgbClr val="1E1E3A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196596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7D2FE"/>
                </a:solidFill>
                <a:latin typeface="Calibri"/>
              </a:rPr>
              <a:t>🏷️ CID Classification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965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05080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1965960"/>
            <a:ext cx="1234440" cy="256032"/>
          </a:xfrm>
          <a:prstGeom prst="roundRect">
            <a:avLst>
              <a:gd name="adj" fmla="val 3000"/>
            </a:avLst>
          </a:prstGeom>
          <a:solidFill>
            <a:srgbClr val="181830"/>
          </a:solidFill>
          <a:ln w="12700">
            <a:solidFill>
              <a:srgbClr val="30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196596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7D2FE"/>
                </a:solidFill>
                <a:latin typeface="Calibri"/>
              </a:rPr>
              <a:t>🔗 KD Mapping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1965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05080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1965960"/>
            <a:ext cx="1234440" cy="256032"/>
          </a:xfrm>
          <a:prstGeom prst="roundRect">
            <a:avLst>
              <a:gd name="adj" fmla="val 3000"/>
            </a:avLst>
          </a:prstGeom>
          <a:solidFill>
            <a:srgbClr val="1E1E3A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196596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C7D2FE"/>
                </a:solidFill>
                <a:latin typeface="Calibri"/>
              </a:rPr>
              <a:t>🔐 RBAC Enforcement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2331720"/>
            <a:ext cx="101600" cy="101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5360" y="23190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Calibri"/>
              </a:rPr>
              <a:t>Red — Restricted</a:t>
            </a:r>
          </a:p>
        </p:txBody>
      </p:sp>
      <p:sp>
        <p:nvSpPr>
          <p:cNvPr id="32" name="Oval 31"/>
          <p:cNvSpPr/>
          <p:nvPr/>
        </p:nvSpPr>
        <p:spPr>
          <a:xfrm>
            <a:off x="2286000" y="2331720"/>
            <a:ext cx="101600" cy="101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38400" y="23190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Calibri"/>
              </a:rPr>
              <a:t>Amber — Controlled</a:t>
            </a:r>
          </a:p>
        </p:txBody>
      </p:sp>
      <p:sp>
        <p:nvSpPr>
          <p:cNvPr id="34" name="Oval 33"/>
          <p:cNvSpPr/>
          <p:nvPr/>
        </p:nvSpPr>
        <p:spPr>
          <a:xfrm>
            <a:off x="3749040" y="2331720"/>
            <a:ext cx="101600" cy="101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01440" y="23190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Calibri"/>
              </a:rPr>
              <a:t>Green — 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2788920"/>
            <a:ext cx="11277295" cy="1508760"/>
          </a:xfrm>
          <a:prstGeom prst="roundRect">
            <a:avLst>
              <a:gd name="adj" fmla="val 3000"/>
            </a:avLst>
          </a:prstGeom>
          <a:solidFill>
            <a:srgbClr val="15182E"/>
          </a:solidFill>
          <a:ln w="12700">
            <a:solidFill>
              <a:srgbClr val="252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2788920"/>
            <a:ext cx="11277295" cy="381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28803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C084FC"/>
                </a:solidFill>
                <a:latin typeface="Calibri"/>
              </a:rPr>
              <a:t>🔮  MULTI-AGENT ORCHESTRATION ARCHITECTURE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0B0BE"/>
                </a:solidFill>
                <a:latin typeface="Calibri"/>
              </a:rPr>
              <a:t>Built on </a:t>
            </a:r>
            <a:r>
              <a:rPr sz="900" b="1">
                <a:solidFill>
                  <a:srgbClr val="C7D2FE"/>
                </a:solidFill>
                <a:latin typeface="Calibri"/>
              </a:rPr>
              <a:t>LangGraph</a:t>
            </a:r>
            <a:r>
              <a:rPr sz="900" b="0">
                <a:solidFill>
                  <a:srgbClr val="B0B0BE"/>
                </a:solidFill>
                <a:latin typeface="Calibri"/>
              </a:rPr>
              <a:t>, the platform employs a governed multi-agent framework where a Master Orchestrator delegates specialized tasks to domain-specific agents.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429000"/>
            <a:ext cx="2606040" cy="731520"/>
          </a:xfrm>
          <a:prstGeom prst="roundRect">
            <a:avLst>
              <a:gd name="adj" fmla="val 3000"/>
            </a:avLst>
          </a:prstGeom>
          <a:solidFill>
            <a:srgbClr val="20183A"/>
          </a:solidFill>
          <a:ln w="1270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2960" y="3520440"/>
            <a:ext cx="365760" cy="365760"/>
          </a:xfrm>
          <a:prstGeom prst="ellipse">
            <a:avLst/>
          </a:prstGeom>
          <a:solidFill>
            <a:srgbClr val="2A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35021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0E0E6"/>
                </a:solidFill>
                <a:latin typeface="Calibri"/>
              </a:rPr>
              <a:t>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35021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4B5FD"/>
                </a:solidFill>
                <a:latin typeface="Calibri"/>
              </a:rPr>
              <a:t>ORCHESTRATOR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37216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Calibri"/>
              </a:rPr>
              <a:t>Master agent that coordinates
workflows &amp; governs execution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520440" y="3429000"/>
            <a:ext cx="2606040" cy="731520"/>
          </a:xfrm>
          <a:prstGeom prst="roundRect">
            <a:avLst>
              <a:gd name="adj" fmla="val 3000"/>
            </a:avLst>
          </a:prstGeom>
          <a:solidFill>
            <a:srgbClr val="1A1530"/>
          </a:solidFill>
          <a:ln w="12700">
            <a:solidFill>
              <a:srgbClr val="302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611880" y="3520440"/>
            <a:ext cx="365760" cy="365760"/>
          </a:xfrm>
          <a:prstGeom prst="ellipse">
            <a:avLst/>
          </a:prstGeom>
          <a:solidFill>
            <a:srgbClr val="2A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11880" y="35021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0E0E6"/>
                </a:solidFill>
                <a:latin typeface="Calibri"/>
              </a:rPr>
              <a:t>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0" y="35021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4B5FD"/>
                </a:solidFill>
                <a:latin typeface="Calibri"/>
              </a:rPr>
              <a:t>DESCRIPTION 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0" y="37216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Calibri"/>
              </a:rPr>
              <a:t>Generates &amp; augments attribute
descriptions via RAG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3429000"/>
            <a:ext cx="2606040" cy="731520"/>
          </a:xfrm>
          <a:prstGeom prst="roundRect">
            <a:avLst>
              <a:gd name="adj" fmla="val 3000"/>
            </a:avLst>
          </a:prstGeom>
          <a:solidFill>
            <a:srgbClr val="1A1530"/>
          </a:solidFill>
          <a:ln w="12700">
            <a:solidFill>
              <a:srgbClr val="302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00800" y="3520440"/>
            <a:ext cx="365760" cy="365760"/>
          </a:xfrm>
          <a:prstGeom prst="ellipse">
            <a:avLst/>
          </a:prstGeom>
          <a:solidFill>
            <a:srgbClr val="2A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5021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0E0E6"/>
                </a:solidFill>
                <a:latin typeface="Calibri"/>
              </a:rPr>
              <a:t>🏷️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35021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4B5FD"/>
                </a:solidFill>
                <a:latin typeface="Calibri"/>
              </a:rPr>
              <a:t>CLASSIFICATION AGENT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37216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Calibri"/>
              </a:rPr>
              <a:t>Performs CID classification &amp;
assigns sensitivity tiers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98280" y="3429000"/>
            <a:ext cx="2606040" cy="731520"/>
          </a:xfrm>
          <a:prstGeom prst="roundRect">
            <a:avLst>
              <a:gd name="adj" fmla="val 3000"/>
            </a:avLst>
          </a:prstGeom>
          <a:solidFill>
            <a:srgbClr val="1A1530"/>
          </a:solidFill>
          <a:ln w="12700">
            <a:solidFill>
              <a:srgbClr val="302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189720" y="3520440"/>
            <a:ext cx="365760" cy="365760"/>
          </a:xfrm>
          <a:prstGeom prst="ellipse">
            <a:avLst/>
          </a:prstGeom>
          <a:solidFill>
            <a:srgbClr val="2A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89720" y="35021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0E0E6"/>
                </a:solidFill>
                <a:latin typeface="Calibri"/>
              </a:rPr>
              <a:t>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35021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4B5FD"/>
                </a:solidFill>
                <a:latin typeface="Calibri"/>
              </a:rPr>
              <a:t>KD MAPPING AGENT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37216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9CA3AF"/>
                </a:solidFill>
                <a:latin typeface="Calibri"/>
              </a:rPr>
              <a:t>Maps classified attributes to
KD elements in Meta Cube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4480560"/>
            <a:ext cx="5486400" cy="2103120"/>
          </a:xfrm>
          <a:prstGeom prst="roundRect">
            <a:avLst>
              <a:gd name="adj" fmla="val 3000"/>
            </a:avLst>
          </a:prstGeom>
          <a:solidFill>
            <a:srgbClr val="15182E"/>
          </a:solidFill>
          <a:ln w="12700">
            <a:solidFill>
              <a:srgbClr val="252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4480560"/>
            <a:ext cx="54864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457200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🚀  AI EPIC MANAGEMENT PANEL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>
                <a:solidFill>
                  <a:srgbClr val="B0B0BE"/>
                </a:solidFill>
                <a:latin typeface="Calibri"/>
              </a:rPr>
              <a:t>GitLab-integrated intelligent workspace where AI autonomously structures, critiques, and refines Epics.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B0BE"/>
                </a:solidFill>
                <a:latin typeface="Calibri"/>
              </a:rPr>
              <a:t>▸  AI-augmented sentence &amp; context enrichment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B0BE"/>
                </a:solidFill>
                <a:latin typeface="Calibri"/>
              </a:rPr>
              <a:t>▸  Auto mind-map generation from user context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B0BE"/>
                </a:solidFill>
                <a:latin typeface="Calibri"/>
              </a:rPr>
              <a:t>▸  Autonomous epic structure &amp; classification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B0BE"/>
                </a:solidFill>
                <a:latin typeface="Calibri"/>
              </a:rPr>
              <a:t>▸  Workflow &amp; architecture diagram generation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B0BE"/>
                </a:solidFill>
                <a:latin typeface="Calibri"/>
              </a:rPr>
              <a:t>▸  AI critic agent — auto-refines if score &lt; 30%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B0BE"/>
                </a:solidFill>
                <a:latin typeface="Calibri"/>
              </a:rPr>
              <a:t>▸  User story generation (up to 30 story points)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B0BE"/>
                </a:solidFill>
                <a:latin typeface="Calibri"/>
              </a:rPr>
              <a:t>▸  One-click publish to GitLab (issues + comments)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B0BE"/>
                </a:solidFill>
                <a:latin typeface="Calibri"/>
              </a:rPr>
              <a:t>▸  Parent &amp; Pod epic hierarchy management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48095" y="4480560"/>
            <a:ext cx="5486400" cy="1143000"/>
          </a:xfrm>
          <a:prstGeom prst="roundRect">
            <a:avLst>
              <a:gd name="adj" fmla="val 3000"/>
            </a:avLst>
          </a:prstGeom>
          <a:solidFill>
            <a:srgbClr val="15182E"/>
          </a:solidFill>
          <a:ln w="12700">
            <a:solidFill>
              <a:srgbClr val="252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48095" y="4480560"/>
            <a:ext cx="54864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92240" y="45720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BBF24"/>
                </a:solidFill>
                <a:latin typeface="Calibri"/>
              </a:rPr>
              <a:t>🔄  GITLAB INTEGRATION &amp; GOVERNANCE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B0BE"/>
                </a:solidFill>
                <a:latin typeface="Calibri"/>
              </a:rPr>
              <a:t>▸  One-button publish — Push stories &amp; issues to GitLab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B0BE"/>
                </a:solidFill>
                <a:latin typeface="Calibri"/>
              </a:rPr>
              <a:t>▸  Auto-commenting — AI-generated contextual comments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B0BE"/>
                </a:solidFill>
                <a:latin typeface="Calibri"/>
              </a:rPr>
              <a:t>▸  Blueprint diagrams — Iterate with human-in-the-loop feedback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0B0BE"/>
                </a:solidFill>
                <a:latin typeface="Calibri"/>
              </a:rPr>
              <a:t>▸  Authenticated access — Secure login, role-based permissions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48095" y="5760720"/>
            <a:ext cx="5486400" cy="868680"/>
          </a:xfrm>
          <a:prstGeom prst="roundRect">
            <a:avLst>
              <a:gd name="adj" fmla="val 3000"/>
            </a:avLst>
          </a:prstGeom>
          <a:solidFill>
            <a:srgbClr val="15182E"/>
          </a:solidFill>
          <a:ln w="12700">
            <a:solidFill>
              <a:srgbClr val="2528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095" y="5760720"/>
            <a:ext cx="548640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92240" y="5833872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A5B4FC"/>
                </a:solidFill>
                <a:latin typeface="Calibri"/>
              </a:rPr>
              <a:t>⚙️  TECHNOLOGY &amp; KEY OUTCOMES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A5B4FC"/>
                </a:solidFill>
                <a:latin typeface="Calibri"/>
              </a:rPr>
              <a:t>LangGraph</a:t>
            </a:r>
            <a:r>
              <a:rPr sz="800" b="0">
                <a:solidFill>
                  <a:srgbClr val="9CA3AF"/>
                </a:solidFill>
                <a:latin typeface="Calibri"/>
              </a:rPr>
              <a:t>  ·  </a:t>
            </a:r>
            <a:r>
              <a:rPr sz="800" b="1">
                <a:solidFill>
                  <a:srgbClr val="A5B4FC"/>
                </a:solidFill>
                <a:latin typeface="Calibri"/>
              </a:rPr>
              <a:t>Multi-Agent</a:t>
            </a:r>
            <a:r>
              <a:rPr sz="800" b="0">
                <a:solidFill>
                  <a:srgbClr val="9CA3AF"/>
                </a:solidFill>
                <a:latin typeface="Calibri"/>
              </a:rPr>
              <a:t>  ·  </a:t>
            </a:r>
            <a:r>
              <a:rPr sz="800" b="1">
                <a:solidFill>
                  <a:srgbClr val="A5B4FC"/>
                </a:solidFill>
                <a:latin typeface="Calibri"/>
              </a:rPr>
              <a:t>RAG</a:t>
            </a:r>
            <a:r>
              <a:rPr sz="800" b="0">
                <a:solidFill>
                  <a:srgbClr val="9CA3AF"/>
                </a:solidFill>
                <a:latin typeface="Calibri"/>
              </a:rPr>
              <a:t>  ·  </a:t>
            </a:r>
            <a:r>
              <a:rPr sz="800" b="1">
                <a:solidFill>
                  <a:srgbClr val="A5B4FC"/>
                </a:solidFill>
                <a:latin typeface="Calibri"/>
              </a:rPr>
              <a:t>GitLab API</a:t>
            </a:r>
            <a:r>
              <a:rPr sz="800" b="0">
                <a:solidFill>
                  <a:srgbClr val="9CA3AF"/>
                </a:solidFill>
                <a:latin typeface="Calibri"/>
              </a:rPr>
              <a:t>  ·  </a:t>
            </a:r>
            <a:r>
              <a:rPr sz="800" b="1">
                <a:solidFill>
                  <a:srgbClr val="A5B4FC"/>
                </a:solidFill>
                <a:latin typeface="Calibri"/>
              </a:rPr>
              <a:t>Python</a:t>
            </a:r>
            <a:r>
              <a:rPr sz="800" b="0">
                <a:solidFill>
                  <a:srgbClr val="9CA3AF"/>
                </a:solidFill>
                <a:latin typeface="Calibri"/>
              </a:rPr>
              <a:t>  ·  </a:t>
            </a:r>
            <a:r>
              <a:rPr sz="800" b="1">
                <a:solidFill>
                  <a:srgbClr val="A5B4FC"/>
                </a:solidFill>
                <a:latin typeface="Calibri"/>
              </a:rPr>
              <a:t>Knowledge Base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4D399"/>
                </a:solidFill>
                <a:latin typeface="Calibri"/>
              </a:rPr>
              <a:t>90%+ Automation</a:t>
            </a:r>
            <a:r>
              <a:rPr sz="800" b="0">
                <a:solidFill>
                  <a:srgbClr val="9CA3AF"/>
                </a:solidFill>
                <a:latin typeface="Calibri"/>
              </a:rPr>
              <a:t>  ·  </a:t>
            </a:r>
            <a:r>
              <a:rPr sz="800" b="1">
                <a:solidFill>
                  <a:srgbClr val="FBBF24"/>
                </a:solidFill>
                <a:latin typeface="Calibri"/>
              </a:rPr>
              <a:t>Human-in-the-Loop Governance</a:t>
            </a:r>
            <a:r>
              <a:rPr sz="800" b="0">
                <a:solidFill>
                  <a:srgbClr val="9CA3AF"/>
                </a:solidFill>
                <a:latin typeface="Calibri"/>
              </a:rPr>
              <a:t>  ·  </a:t>
            </a:r>
            <a:r>
              <a:rPr sz="800" b="1">
                <a:solidFill>
                  <a:srgbClr val="A78BFA"/>
                </a:solidFill>
                <a:latin typeface="Calibri"/>
              </a:rPr>
              <a:t>Self-Healing Epics</a:t>
            </a:r>
            <a:r>
              <a:rPr sz="800" b="0">
                <a:solidFill>
                  <a:srgbClr val="9CA3AF"/>
                </a:solidFill>
                <a:latin typeface="Calibri"/>
              </a:rPr>
              <a:t>  ·  </a:t>
            </a:r>
            <a:r>
              <a:rPr sz="800" b="1">
                <a:solidFill>
                  <a:srgbClr val="C7D2FE"/>
                </a:solidFill>
                <a:latin typeface="Calibri"/>
              </a:rPr>
              <a:t>Zero-Friction GitLab Ops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6675120"/>
            <a:ext cx="11277295" cy="1270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669340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05065"/>
                </a:solidFill>
                <a:latin typeface="Calibri"/>
              </a:rPr>
              <a:t>Agentic AI Platform — Confidential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48095" y="669340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05065"/>
                </a:solidFill>
                <a:latin typeface="Calibri"/>
              </a:rPr>
              <a:t>Powered by Multi-Agent Orchestration · LangGraph · RAG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